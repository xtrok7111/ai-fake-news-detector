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pic>
        <p:nvPicPr>
          <p:cNvPr id="3" name="Image 0" descr="C:\Users\Turki\Downloads\Documents\final project\ai-fake-news-detector\ai-fake-news-detectorr\frontend\publ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114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Classification of Misinformation Using Artificial Intelligence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 Ali Alrayeh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Bader Ahmed Alghamdi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 Mohammed Alsaiari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Bader Mattar Alotaibi</a:t>
            </a:r>
            <a:endParaRPr lang="en-US" sz="1200" dirty="0"/>
          </a:p>
        </p:txBody>
      </p:sp>
      <p:pic>
        <p:nvPicPr>
          <p:cNvPr id="9" name="Image 1" descr="C:\Users\Turki\Downloads\Documents\final project\ai-fake-news-detector\ai-fake-news-detectorr\frontend\public\sattam-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4663440"/>
            <a:ext cx="36576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4904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Sattam Bin Abdulaziz University  ·  December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  ·  PSAU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spreads faster than verified news — undermining health, politics, and public trust.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84048" cy="384048"/>
          </a:xfrm>
          <a:prstGeom prst="ellipse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8288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detectors return only a true/false label with no justification.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384048" cy="384048"/>
          </a:xfrm>
          <a:prstGeom prst="ellipse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4688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fact-checkers cannot keep pace with online content volume.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154680"/>
            <a:ext cx="384048" cy="384048"/>
          </a:xfrm>
          <a:prstGeom prst="ellipse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1089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Accessibility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fact-checking platforms have complex or restricted interfaces.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384048" cy="384048"/>
          </a:xfrm>
          <a:prstGeom prst="ellipse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7490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Eroded User Trust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reasoning, users dismiss AI verdicts as unreliable.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  ·  PSAU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this project aims to achieve.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81051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AI-based web platform that detects fake news automatically.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26771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TF-IDF + Logistic Regression for fast and accurate classification.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743200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72491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explainability layer (LIME) that reveals WHY a prediction was made.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200400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18211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confidence score and risk level for every analysed article.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63931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tool through a web application and a browser extension.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114800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409651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critical thinking about online news content.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  ·  PSAU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</a:t>
            </a:r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platform that turns a pasted article into an explained verdict in one step.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606040" cy="265176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20240"/>
            <a:ext cx="2606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a news article into the web app.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920240"/>
            <a:ext cx="2606040" cy="265176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920240"/>
            <a:ext cx="2606040" cy="45720"/>
          </a:xfrm>
          <a:prstGeom prst="rect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520440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20440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classifies it as Real or Fake with a confidence score.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1920240"/>
            <a:ext cx="2606040" cy="265176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920240"/>
            <a:ext cx="26060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309360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9360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highlights the words that drove the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SYSTEM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  ·  PSAU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</a:t>
            </a:r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users and the admin interact with the system.</a:t>
            </a:r>
            <a:endParaRPr lang="en-US" sz="1400" dirty="0"/>
          </a:p>
        </p:txBody>
      </p:sp>
      <p:pic>
        <p:nvPicPr>
          <p:cNvPr id="8" name="Image 0" descr="C:\Users\Turki\Downloads\Documents\final project\ai-fake-news-detector\ai-fake-news-detectorr\_report\media\imag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691640"/>
            <a:ext cx="64008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  ·  PSAU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</a:t>
            </a:r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separation of concerns.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8138160" cy="82296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28800"/>
            <a:ext cx="91440" cy="822960"/>
          </a:xfrm>
          <a:prstGeom prst="rect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9476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  —  React.js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2677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Analyse, Dashboard, Model Info, About Us + Chrome extension.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788920"/>
            <a:ext cx="8138160" cy="82296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788920"/>
            <a:ext cx="91440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9077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  —  Flask (Python)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227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JWT authentication, ML inference, LIME explanation.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8138160" cy="82296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749040"/>
            <a:ext cx="91440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38679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  —  SQLite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1879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tables (Users, History, Model_Info) + the trained .pkl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  ·  PSAU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</a:t>
            </a:r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frameworks used in the project.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2606040" cy="123444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28800"/>
            <a:ext cx="2606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single-page 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828800"/>
            <a:ext cx="2606040" cy="123444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828800"/>
            <a:ext cx="2606040" cy="45720"/>
          </a:xfrm>
          <a:prstGeom prst="rect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2011680"/>
            <a:ext cx="457200" cy="457200"/>
          </a:xfrm>
          <a:prstGeom prst="ellipse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6908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6908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REST API backend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1828800"/>
            <a:ext cx="2606040" cy="123444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828800"/>
            <a:ext cx="26060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01168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200400"/>
            <a:ext cx="2606040" cy="123444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200400"/>
            <a:ext cx="26060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3703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200400"/>
            <a:ext cx="2606040" cy="123444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3200400"/>
            <a:ext cx="260604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0440" y="33832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6908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069080" y="3703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database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80760" y="3200400"/>
            <a:ext cx="2606040" cy="123444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0760" y="3200400"/>
            <a:ext cx="2606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338328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5800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858000" y="3703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  ·  PSAU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</a:t>
            </a:r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to an explained verdict in under one second.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1500" y="1920240"/>
            <a:ext cx="1234440" cy="1234440"/>
          </a:xfrm>
          <a:prstGeom prst="rect">
            <a:avLst/>
          </a:prstGeom>
          <a:solidFill>
            <a:srgbClr val="1B233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084832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" y="2633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" y="2852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05940" y="23545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924812" y="1920240"/>
            <a:ext cx="1234440" cy="1234440"/>
          </a:xfrm>
          <a:prstGeom prst="rect">
            <a:avLst/>
          </a:prstGeom>
          <a:solidFill>
            <a:srgbClr val="1B233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13432" y="2084832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1343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4812" y="2633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4812" y="2852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lemmatise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59252" y="23545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78124" y="1920240"/>
            <a:ext cx="1234440" cy="1234440"/>
          </a:xfrm>
          <a:prstGeom prst="rect">
            <a:avLst/>
          </a:prstGeom>
          <a:solidFill>
            <a:srgbClr val="1B233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66744" y="2084832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6744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78124" y="2633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78124" y="2852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12564" y="23545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631436" y="1920240"/>
            <a:ext cx="1234440" cy="1234440"/>
          </a:xfrm>
          <a:prstGeom prst="rect">
            <a:avLst/>
          </a:prstGeom>
          <a:solidFill>
            <a:srgbClr val="1B233A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0056" y="2084832"/>
            <a:ext cx="457200" cy="457200"/>
          </a:xfrm>
          <a:prstGeom prst="ellipse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0056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31436" y="2633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31436" y="2852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65876" y="23545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984748" y="1920240"/>
            <a:ext cx="1234440" cy="1234440"/>
          </a:xfrm>
          <a:prstGeom prst="rect">
            <a:avLst/>
          </a:prstGeom>
          <a:solidFill>
            <a:srgbClr val="1B23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73368" y="208483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336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984748" y="2633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84748" y="2852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19188" y="23545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338060" y="1920240"/>
            <a:ext cx="1234440" cy="1234440"/>
          </a:xfrm>
          <a:prstGeom prst="rect">
            <a:avLst/>
          </a:prstGeom>
          <a:solidFill>
            <a:srgbClr val="1B23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26680" y="2084832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38060" y="2633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38060" y="2852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score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" y="3685032"/>
            <a:ext cx="256032" cy="256032"/>
          </a:xfrm>
          <a:prstGeom prst="ellipse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685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6868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 </a:t>
            </a:r>
            <a:pPr indent="0" marL="0">
              <a:buNone/>
            </a:pPr>
            <a:r>
              <a:rPr lang="en-US" sz="11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URLs and punctuation, remove stopwords, lemmatise.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4069080"/>
            <a:ext cx="256032" cy="256032"/>
          </a:xfrm>
          <a:prstGeom prst="ellipse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68680" y="4041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Vectorisation:  </a:t>
            </a:r>
            <a:pPr indent="0" marL="0">
              <a:buNone/>
            </a:pPr>
            <a:r>
              <a:rPr lang="en-US" sz="11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~15,000 numerical features (unigrams + bigrams).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02920" y="4453128"/>
            <a:ext cx="256032" cy="256032"/>
          </a:xfrm>
          <a:prstGeom prst="ellipse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453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68680" y="44256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 </a:t>
            </a:r>
            <a:pPr indent="0" marL="0">
              <a:buNone/>
            </a:pPr>
            <a:r>
              <a:rPr lang="en-US" sz="11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Real or Fake and outputs a probabilistic confidence score.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DATASET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  ·  PSAU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Kaggle Fake and Real News Dataset.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965960" cy="137160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28800"/>
            <a:ext cx="196596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ARTICLES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78608" y="1828800"/>
            <a:ext cx="1965960" cy="137160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78608" y="1828800"/>
            <a:ext cx="1965960" cy="45720"/>
          </a:xfrm>
          <a:prstGeom prst="rect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2103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23,481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78608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54296" y="1828800"/>
            <a:ext cx="1965960" cy="137160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1828800"/>
            <a:ext cx="19659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2103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21,417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54296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9984" y="1828800"/>
            <a:ext cx="1965960" cy="137160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9984" y="1828800"/>
            <a:ext cx="19659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2103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98.37%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29984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547872"/>
            <a:ext cx="256032" cy="256032"/>
          </a:xfrm>
          <a:prstGeom prst="ellipse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6868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labels: Fake.csv → 0   |   True.csv → 1.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931920"/>
            <a:ext cx="256032" cy="256032"/>
          </a:xfrm>
          <a:prstGeom prst="ellipse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8680" y="39044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80% training / 20% testing (stratified by class).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315968"/>
            <a:ext cx="256032" cy="256032"/>
          </a:xfrm>
          <a:prstGeom prst="ellipse">
            <a:avLst/>
          </a:prstGeom>
          <a:solidFill>
            <a:srgbClr val="D946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68680" y="42885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SVM and Naïve Bayes for best balance of accuracy, speed, and explainability.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  ·  PSAU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</a:t>
            </a:r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and Create Account pages with secure SHA-256 hashing and JWT tokens.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566160" cy="2880360"/>
          </a:xfrm>
          <a:prstGeom prst="rect">
            <a:avLst/>
          </a:prstGeom>
          <a:solidFill>
            <a:srgbClr val="1B233A"/>
          </a:solidFill>
          <a:ln w="12700">
            <a:solidFill>
              <a:srgbClr val="D946EF"/>
            </a:solidFill>
            <a:prstDash val="solid"/>
          </a:ln>
        </p:spPr>
      </p:sp>
      <p:pic>
        <p:nvPicPr>
          <p:cNvPr id="9" name="Image 0" descr="C:\Users\Turki\Downloads\Documents\final project\ai-fake-news-detector\ai-fake-news-detectorr\_report\media\image8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783080"/>
            <a:ext cx="3474720" cy="2788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Page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737360"/>
            <a:ext cx="3566160" cy="2880360"/>
          </a:xfrm>
          <a:prstGeom prst="rect">
            <a:avLst/>
          </a:prstGeom>
          <a:solidFill>
            <a:srgbClr val="1B233A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2" name="Image 1" descr="C:\Users\Turki\Downloads\Documents\final project\ai-fake-news-detector\ai-fake-news-detectorr\_report\media\image9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92040" y="1783080"/>
            <a:ext cx="3474720" cy="2788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Page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  ·  PSAU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News — </a:t>
            </a:r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paste an article; the model returns a verdict instantly.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25880" y="1737360"/>
            <a:ext cx="6492240" cy="2926080"/>
          </a:xfrm>
          <a:prstGeom prst="rect">
            <a:avLst/>
          </a:prstGeom>
          <a:solidFill>
            <a:srgbClr val="1B233A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9" name="Image 0" descr="C:\Users\Turki\Downloads\Documents\final project\ai-fake-news-detector\ai-fake-news-detectorr\_report\media\image7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783080"/>
            <a:ext cx="6400800" cy="2834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page — paste an article and verify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  ·  PSAU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</a:t>
            </a:r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fake-news headline detected with 99.73% confidence — LIME explains why.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57400" y="1645920"/>
            <a:ext cx="5029200" cy="3611880"/>
          </a:xfrm>
          <a:prstGeom prst="rect">
            <a:avLst/>
          </a:prstGeom>
          <a:solidFill>
            <a:srgbClr val="1B233A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9" name="Image 0" descr="C:\Users\Turki\Downloads\Documents\final project\ai-fake-news-detector\ai-fake-news-detectorr\_report\media\image10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03120" y="1691640"/>
            <a:ext cx="4937760" cy="35204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03120" y="5303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FAKE  ·  Supporting and opposing words highlighted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  ·  PSAU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</a:t>
            </a:r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verification history with totals for Real and Fake checks.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25880" y="1737360"/>
            <a:ext cx="6492240" cy="2926080"/>
          </a:xfrm>
          <a:prstGeom prst="rect">
            <a:avLst/>
          </a:prstGeom>
          <a:solidFill>
            <a:srgbClr val="1B233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9" name="Image 0" descr="C:\Users\Turki\Downloads\Documents\final project\ai-fake-news-detector\ai-fake-news-detectorr\_report\media\image12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783080"/>
            <a:ext cx="6400800" cy="2834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total checks, real/fake counts, and full history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TESTING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Fake News Detector  ·  PSAU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</a:t>
            </a:r>
            <a:pPr indent="0" marL="0">
              <a:buNone/>
            </a:pPr>
            <a:r>
              <a:rPr lang="en-US" sz="3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feature was validated against its acceptance criteria.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2606040" cy="822960"/>
          </a:xfrm>
          <a:prstGeom prst="rect">
            <a:avLst/>
          </a:prstGeom>
          <a:solidFill>
            <a:srgbClr val="1B23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2606040" cy="822960"/>
          </a:xfrm>
          <a:prstGeom prst="rect">
            <a:avLst/>
          </a:prstGeom>
          <a:solidFill>
            <a:srgbClr val="1B23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01168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69080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6908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828800"/>
            <a:ext cx="2606040" cy="822960"/>
          </a:xfrm>
          <a:prstGeom prst="rect">
            <a:avLst/>
          </a:prstGeom>
          <a:solidFill>
            <a:srgbClr val="1B23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201168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Classification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788920"/>
            <a:ext cx="2606040" cy="822960"/>
          </a:xfrm>
          <a:prstGeom prst="rect">
            <a:avLst/>
          </a:prstGeom>
          <a:solidFill>
            <a:srgbClr val="1B23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2953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Export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788920"/>
            <a:ext cx="2606040" cy="822960"/>
          </a:xfrm>
          <a:prstGeom prst="rect">
            <a:avLst/>
          </a:prstGeom>
          <a:solidFill>
            <a:srgbClr val="1B23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97180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069080" y="2953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Retrieval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6908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2788920"/>
            <a:ext cx="2606040" cy="822960"/>
          </a:xfrm>
          <a:prstGeom prst="rect">
            <a:avLst/>
          </a:prstGeom>
          <a:solidFill>
            <a:srgbClr val="1B23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297180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58000" y="2953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Metadata API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3931920"/>
            <a:ext cx="8138160" cy="640080"/>
          </a:xfrm>
          <a:prstGeom prst="rect">
            <a:avLst/>
          </a:prstGeom>
          <a:solidFill>
            <a:srgbClr val="1B233A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931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accuracy:  </a:t>
            </a:r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98.37%</a:t>
            </a:r>
            <a:pPr algn="ctr" indent="0" marL="0">
              <a:buNone/>
            </a:pPr>
            <a:r>
              <a:rPr lang="en-US" sz="12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Inference latency:  </a:t>
            </a:r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ms / article</a:t>
            </a:r>
            <a:pPr algn="ctr" indent="0" marL="0">
              <a:buNone/>
            </a:pPr>
            <a:r>
              <a:rPr lang="en-US" sz="12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Algorithm:  </a:t>
            </a:r>
            <a:pPr algn="ctr" indent="0" marL="0">
              <a:buNone/>
            </a:pPr>
            <a:r>
              <a:rPr lang="en-US" sz="12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D946EF"/>
          </a:solidFill>
          <a:ln w="12700">
            <a:solidFill>
              <a:srgbClr val="D946EF">
                <a:alpha val="0"/>
              </a:srgbClr>
            </a:solidFill>
            <a:prstDash val="solid"/>
          </a:ln>
        </p:spPr>
      </p:sp>
      <p:pic>
        <p:nvPicPr>
          <p:cNvPr id="3" name="Image 0" descr="C:\Users\Turki\Downloads\Documents\final project\ai-fake-news-detector\ai-fake-news-detectorr\frontend\publ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5486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C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 Ali Alrayeh  ·  Bader Ahmed Alghamdi  ·  Turki Mohammed Alsaiari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Bader Mattar Alotaibi</a:t>
            </a:r>
            <a:endParaRPr lang="en-US" sz="1300" dirty="0"/>
          </a:p>
        </p:txBody>
      </p:sp>
      <p:pic>
        <p:nvPicPr>
          <p:cNvPr id="7" name="Image 1" descr="C:\Users\Turki\Downloads\Documents\final project\ai-fake-news-detector\ai-fake-news-detectorr\frontend\public\sattam-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4434840"/>
            <a:ext cx="36576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4904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Sattam Bin Abdulaziz University  ·  December 2025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Fake News Detector</dc:title>
  <dc:subject>PptxGenJS Presentation</dc:subject>
  <dc:creator>Turki Ali Alrayeh, Bader Ahmed Alghamdi, Turki Mohammed Alsaiari</dc:creator>
  <cp:lastModifiedBy>Turki Ali Alrayeh, Bader Ahmed Alghamdi, Turki Mohammed Alsaiari</cp:lastModifiedBy>
  <cp:revision>1</cp:revision>
  <dcterms:created xsi:type="dcterms:W3CDTF">2026-05-16T19:25:55Z</dcterms:created>
  <dcterms:modified xsi:type="dcterms:W3CDTF">2026-05-16T19:25:55Z</dcterms:modified>
</cp:coreProperties>
</file>